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4384000" cy="13716000"/>
  <p:notesSz cx="6858000" cy="9144000"/>
  <p:embeddedFontLst>
    <p:embeddedFont>
      <p:font typeface="Pretendard Regular"/>
      <p:regular r:id="rId22"/>
    </p:embeddedFont>
    <p:embeddedFont>
      <p:font typeface="Pretendard Light"/>
      <p:regular r:id="rId23"/>
    </p:embeddedFont>
    <p:embeddedFont>
      <p:font typeface="LINE Seed Sans KR Bold"/>
      <p:bold r:id="rId24"/>
    </p:embeddedFont>
    <p:embeddedFont>
      <p:font typeface="Pretendard Medium"/>
      <p:bold r:id="rId25"/>
    </p:embeddedFont>
    <p:embeddedFont>
      <p:font typeface="Pretendard SemiBold"/>
      <p:bold r:id="rId26"/>
    </p:embeddedFont>
    <p:embeddedFont>
      <p:font typeface="LINE Seed Sans KR Regular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1.fntdata" Type="http://schemas.openxmlformats.org/officeDocument/2006/relationships/font"/><Relationship Id="rId23" Target="fonts/font2.fntdata" Type="http://schemas.openxmlformats.org/officeDocument/2006/relationships/font"/><Relationship Id="rId24" Target="fonts/font3.fntdata" Type="http://schemas.openxmlformats.org/officeDocument/2006/relationships/font"/><Relationship Id="rId25" Target="fonts/font4.fntdata" Type="http://schemas.openxmlformats.org/officeDocument/2006/relationships/font"/><Relationship Id="rId26" Target="fonts/font5.fntdata" Type="http://schemas.openxmlformats.org/officeDocument/2006/relationships/font"/><Relationship Id="rId27" Target="fonts/font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82.png" Type="http://schemas.openxmlformats.org/officeDocument/2006/relationships/image"/><Relationship Id="rId4" Target="../media/image52.png" Type="http://schemas.openxmlformats.org/officeDocument/2006/relationships/image"/><Relationship Id="rId5" Target="../media/image83.pn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Relationship Id="rId3" Target="../media/image89.png" Type="http://schemas.openxmlformats.org/officeDocument/2006/relationships/image"/><Relationship Id="rId4" Target="../media/image90.png" Type="http://schemas.openxmlformats.org/officeDocument/2006/relationships/image"/><Relationship Id="rId5" Target="../media/image91.pn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82.png" Type="http://schemas.openxmlformats.org/officeDocument/2006/relationships/image"/><Relationship Id="rId4" Target="../media/image94.png" Type="http://schemas.openxmlformats.org/officeDocument/2006/relationships/image"/><Relationship Id="rId5" Target="../media/image95.png" Type="http://schemas.openxmlformats.org/officeDocument/2006/relationships/image"/><Relationship Id="rId6" Target="../media/image96.png" Type="http://schemas.openxmlformats.org/officeDocument/2006/relationships/image"/><Relationship Id="rId7" Target="../media/image9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8940800"/>
            <a:ext cx="24752300" cy="483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74700" y="596900"/>
            <a:ext cx="825500" cy="825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3309600" y="1016000"/>
            <a:ext cx="3314700" cy="3314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6624300" y="4330700"/>
            <a:ext cx="1651000" cy="1651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81200" y="11442700"/>
            <a:ext cx="109093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https://github.com/lgw323/webserviceplatform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1200" y="10642600"/>
            <a:ext cx="39624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이름: 이건우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81200" y="9842500"/>
            <a:ext cx="39624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학번: 2021663046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79600" y="3924300"/>
            <a:ext cx="10007600" cy="2514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981200" y="3225800"/>
            <a:ext cx="106934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 spc="-3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통합 게이밍 대시보드 및 하드웨어 매칭 플랫폼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1200" y="6794500"/>
            <a:ext cx="97536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4000" b="false" i="false" u="none" strike="noStrike" spc="-200">
                <a:solidFill>
                  <a:srgbClr val="373737"/>
                </a:solidFill>
                <a:latin typeface="Pretendard Light"/>
                <a:ea typeface="Pretendard Light"/>
                <a:cs typeface="Pretendard Light"/>
              </a:rPr>
              <a:t>AI 협업을 통한 소프트웨어  생애 주기 실습 발표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81200" y="12242800"/>
            <a:ext cx="109093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https://syncrig.lgw323.com/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3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323300" y="-177800"/>
            <a:ext cx="3302000" cy="140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065000" y="9144000"/>
            <a:ext cx="11010900" cy="280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85700" y="9512300"/>
            <a:ext cx="5334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65000" y="9144000"/>
            <a:ext cx="110236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58700" y="10375900"/>
            <a:ext cx="10223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065000" y="5969000"/>
            <a:ext cx="11010900" cy="280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85700" y="6337300"/>
            <a:ext cx="533400" cy="53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65000" y="5969000"/>
            <a:ext cx="110236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58700" y="7200900"/>
            <a:ext cx="102235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065000" y="2794000"/>
            <a:ext cx="11010900" cy="280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85700" y="3162300"/>
            <a:ext cx="533400" cy="533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0" y="2794000"/>
            <a:ext cx="110236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58700" y="4038600"/>
            <a:ext cx="10223500" cy="12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385800" y="10655300"/>
            <a:ext cx="87757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수동 설정 시 발생하는 성능 손실 수치 (예: 약 25%의 프레임 저하 발생) 시각화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11200" y="9486900"/>
            <a:ext cx="90932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 spc="-200">
                <a:solidFill>
                  <a:srgbClr val="373737"/>
                </a:solidFill>
                <a:latin typeface="Pretendard Medium"/>
                <a:ea typeface="Pretendard Medium"/>
                <a:cs typeface="Pretendard Medium"/>
              </a:rPr>
              <a:t>하드웨어 성능의 낭비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11200" y="7480300"/>
            <a:ext cx="8826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여러 플랫폼에 플레이 기록 조회와 게임별 최적화 설정 탐색이 분리되어 발생하는 탐색 피로도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11200" y="6311900"/>
            <a:ext cx="90932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 spc="-200">
                <a:solidFill>
                  <a:srgbClr val="373737"/>
                </a:solidFill>
                <a:latin typeface="Pretendard Medium"/>
                <a:ea typeface="Pretendard Medium"/>
                <a:cs typeface="Pretendard Medium"/>
              </a:rPr>
              <a:t>데이터 파편화와 비효율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11200" y="4305300"/>
            <a:ext cx="9055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최신 게임들의 수십가지가 넘는 세부 설정을 직접 건드려야 하는 피로도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11200" y="3136900"/>
            <a:ext cx="90932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 spc="-200">
                <a:solidFill>
                  <a:srgbClr val="373737"/>
                </a:solidFill>
                <a:latin typeface="Pretendard Medium"/>
                <a:ea typeface="Pretendard Medium"/>
                <a:cs typeface="Pretendard Medium"/>
              </a:rPr>
              <a:t>복잡한 그래픽 옵션의 늪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1300" y="2540000"/>
            <a:ext cx="7962900" cy="4013200"/>
          </a:xfrm>
          <a:prstGeom prst="rect">
            <a:avLst/>
          </a:prstGeom>
        </p:spPr>
        <p:txBody>
          <a:bodyPr anchor="t" rtlCol="false" lIns="0" tIns="29464" rIns="0" bIns="0"/>
          <a:lstStyle/>
          <a:p>
            <a:pPr algn="l" lvl="0">
              <a:lnSpc>
                <a:spcPct val="111220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게이머의 스트레스를 데이터로 해결하는 최적화 </a:t>
            </a: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플랫폼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814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29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320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2주차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12900" y="7378700"/>
            <a:ext cx="81407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522200" y="6362700"/>
            <a:ext cx="9829800" cy="280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776700" y="7607300"/>
            <a:ext cx="52324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39700" y="6667500"/>
            <a:ext cx="3594100" cy="220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2522200" y="6362700"/>
            <a:ext cx="5334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22200" y="6362700"/>
            <a:ext cx="98425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32000" y="9690100"/>
            <a:ext cx="9829800" cy="280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86500" y="10922000"/>
            <a:ext cx="52324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49500" y="9982200"/>
            <a:ext cx="35941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2032000" y="9690100"/>
            <a:ext cx="533400" cy="533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19300" y="9677400"/>
            <a:ext cx="98425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32000" y="6362700"/>
            <a:ext cx="9829800" cy="2806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86500" y="7607300"/>
            <a:ext cx="52324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032000" y="6362700"/>
            <a:ext cx="533400" cy="533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19300" y="6362700"/>
            <a:ext cx="98425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522200" y="9690100"/>
            <a:ext cx="9829800" cy="2806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776700" y="10922000"/>
            <a:ext cx="52324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39700" y="9982200"/>
            <a:ext cx="3594100" cy="2209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2522200" y="9690100"/>
            <a:ext cx="533400" cy="533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22200" y="9677400"/>
            <a:ext cx="9842500" cy="25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6891000" y="11188700"/>
            <a:ext cx="49784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666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서버 및 API 개발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91000" y="10033000"/>
            <a:ext cx="50419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백엔드 개발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5700" y="9740900"/>
            <a:ext cx="4064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00800" y="11188700"/>
            <a:ext cx="49784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666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사용자 인터페이스 개발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00800" y="10033000"/>
            <a:ext cx="52832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UI/UX 개발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70100" y="9740900"/>
            <a:ext cx="444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891000" y="7874000"/>
            <a:ext cx="49784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666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아키텍처 설계 및 DB 구조 정의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891000" y="6705600"/>
            <a:ext cx="50419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시스템 설계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36500" y="6426200"/>
            <a:ext cx="317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00800" y="7874000"/>
            <a:ext cx="49784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666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프로젝트 컨셉 확립 및 요구사항 분석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00800" y="6705600"/>
            <a:ext cx="50419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기획 및 아이디어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33600" y="6426200"/>
            <a:ext cx="317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25600" y="2540000"/>
            <a:ext cx="211328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12주 프로젝트 로드맵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254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85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649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3주차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51000" y="4330700"/>
            <a:ext cx="3238500" cy="16383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32000" y="5245100"/>
            <a:ext cx="2667000" cy="127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651000" y="4330700"/>
            <a:ext cx="533400" cy="533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51000" y="4318000"/>
            <a:ext cx="3238500" cy="254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2197100" y="5410200"/>
            <a:ext cx="237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133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기획 완료 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86000" y="4483100"/>
            <a:ext cx="2247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WEEK 1-2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52600" y="4381500"/>
            <a:ext cx="317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1</a:t>
            </a:r>
          </a:p>
        </p:txBody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219700" y="4330700"/>
            <a:ext cx="3238500" cy="16383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00700" y="5245100"/>
            <a:ext cx="2667000" cy="127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5219700" y="4330700"/>
            <a:ext cx="533400" cy="5334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219700" y="4318000"/>
            <a:ext cx="3238500" cy="254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5778500" y="5410200"/>
            <a:ext cx="237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133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명세서 수립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67400" y="4483100"/>
            <a:ext cx="2247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WEEK 3-4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334000" y="4381500"/>
            <a:ext cx="317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1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788400" y="4330700"/>
            <a:ext cx="3238500" cy="163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169400" y="5245100"/>
            <a:ext cx="2667000" cy="127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8788400" y="4330700"/>
            <a:ext cx="533400" cy="5334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788400" y="4318000"/>
            <a:ext cx="3238500" cy="254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9347200" y="5410200"/>
            <a:ext cx="237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133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플로우&amp;아키텍쳐 설계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36100" y="4483100"/>
            <a:ext cx="2247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WEEK 5-6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902700" y="4381500"/>
            <a:ext cx="317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1</a:t>
            </a:r>
          </a:p>
        </p:txBody>
      </p:sp>
      <p:pic>
        <p:nvPicPr>
          <p:cNvPr name="Picture 59" id="5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357100" y="4330700"/>
            <a:ext cx="3238500" cy="16383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738100" y="5245100"/>
            <a:ext cx="2667000" cy="127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2357100" y="4330700"/>
            <a:ext cx="533400" cy="5334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357100" y="4318000"/>
            <a:ext cx="3238500" cy="25400"/>
          </a:xfrm>
          <a:prstGeom prst="rect">
            <a:avLst/>
          </a:prstGeom>
        </p:spPr>
      </p:pic>
      <p:sp>
        <p:nvSpPr>
          <p:cNvPr name="TextBox 63" id="63"/>
          <p:cNvSpPr txBox="true"/>
          <p:nvPr/>
        </p:nvSpPr>
        <p:spPr>
          <a:xfrm rot="0">
            <a:off x="12915900" y="5410200"/>
            <a:ext cx="237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133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개발 시작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004800" y="4483100"/>
            <a:ext cx="2247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WEEK 7-8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471400" y="4381500"/>
            <a:ext cx="317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1</a:t>
            </a:r>
          </a:p>
        </p:txBody>
      </p:sp>
      <p:pic>
        <p:nvPicPr>
          <p:cNvPr name="Picture 66" id="6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938500" y="4330700"/>
            <a:ext cx="3238500" cy="16383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319500" y="5245100"/>
            <a:ext cx="2667000" cy="127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5938500" y="4330700"/>
            <a:ext cx="533400" cy="5334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925800" y="4318000"/>
            <a:ext cx="3238500" cy="25400"/>
          </a:xfrm>
          <a:prstGeom prst="rect">
            <a:avLst/>
          </a:prstGeom>
        </p:spPr>
      </p:pic>
      <p:sp>
        <p:nvSpPr>
          <p:cNvPr name="TextBox 70" id="70"/>
          <p:cNvSpPr txBox="true"/>
          <p:nvPr/>
        </p:nvSpPr>
        <p:spPr>
          <a:xfrm rot="0">
            <a:off x="16484600" y="5410200"/>
            <a:ext cx="237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133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통합 테스트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573500" y="4483100"/>
            <a:ext cx="2527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WEEK 9-10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040100" y="4381500"/>
            <a:ext cx="317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1</a:t>
            </a:r>
          </a:p>
        </p:txBody>
      </p:sp>
      <p:pic>
        <p:nvPicPr>
          <p:cNvPr name="Picture 73" id="7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507200" y="4330700"/>
            <a:ext cx="3238500" cy="16383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888200" y="5245100"/>
            <a:ext cx="2667000" cy="127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9507200" y="4330700"/>
            <a:ext cx="533400" cy="5334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507200" y="4318000"/>
            <a:ext cx="3238500" cy="25400"/>
          </a:xfrm>
          <a:prstGeom prst="rect">
            <a:avLst/>
          </a:prstGeom>
        </p:spPr>
      </p:pic>
      <p:sp>
        <p:nvSpPr>
          <p:cNvPr name="TextBox 77" id="77"/>
          <p:cNvSpPr txBox="true"/>
          <p:nvPr/>
        </p:nvSpPr>
        <p:spPr>
          <a:xfrm rot="0">
            <a:off x="20066000" y="5410200"/>
            <a:ext cx="237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133" b="false" i="false" u="none" strike="noStrike" spc="-200">
                <a:solidFill>
                  <a:srgbClr val="373737"/>
                </a:solidFill>
                <a:latin typeface="Pretendard Regular"/>
                <a:ea typeface="Pretendard Regular"/>
                <a:cs typeface="Pretendard Regular"/>
              </a:rPr>
              <a:t>배포 준비 및 배포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0154900" y="4483100"/>
            <a:ext cx="2527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373737"/>
                </a:solidFill>
                <a:latin typeface="LINE Seed Sans KR Bold"/>
                <a:ea typeface="LINE Seed Sans KR Bold"/>
                <a:cs typeface="LINE Seed Sans KR Bold"/>
              </a:rPr>
              <a:t>WEEK 11-12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9621500" y="4381500"/>
            <a:ext cx="3175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1</a:t>
            </a:r>
          </a:p>
        </p:txBody>
      </p:sp>
      <p:pic>
        <p:nvPicPr>
          <p:cNvPr name="Picture 80" id="8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187700" y="6642100"/>
            <a:ext cx="1892300" cy="219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79300" y="6108700"/>
            <a:ext cx="9829800" cy="657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852900" y="10795000"/>
            <a:ext cx="482600" cy="482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62200" y="6108700"/>
            <a:ext cx="9829800" cy="657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33700" y="71247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035800" y="10795000"/>
            <a:ext cx="482600" cy="48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87200" y="9512300"/>
            <a:ext cx="5842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62200" y="12674600"/>
            <a:ext cx="196596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62200" y="6108700"/>
            <a:ext cx="196596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3169900" y="11455400"/>
            <a:ext cx="7835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요구사항 명세서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82600" y="10020300"/>
            <a:ext cx="7823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무엇을 만들 것인가?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52800" y="11455400"/>
            <a:ext cx="7835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기능명세서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65500" y="10020300"/>
            <a:ext cx="7823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어떻게 작동할 것인가?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25600" y="2540000"/>
            <a:ext cx="21132800" cy="26670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개발의 나침반이 되어주는</a:t>
            </a:r>
          </a:p>
          <a:p>
            <a:pPr algn="ctr" lvl="0">
              <a:lnSpc>
                <a:spcPct val="109559"/>
              </a:lnSpc>
            </a:pP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요구사항 명세서</a:t>
            </a: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작성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54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5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649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4주차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35500" y="67437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286500" y="74168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848600" y="67564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423400" y="75184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763500" y="71247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478000" y="67437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989300" y="71374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818100" y="68580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342100" y="7137400"/>
            <a:ext cx="2082800" cy="2667000"/>
          </a:xfrm>
          <a:prstGeom prst="rect">
            <a:avLst/>
          </a:prstGeom>
          <a:effectLst>
            <a:outerShdw dir="2700000" dist="64132" blurRad="20843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6700" y="5181600"/>
            <a:ext cx="16167100" cy="7683500"/>
          </a:xfrm>
          <a:prstGeom prst="rect">
            <a:avLst/>
          </a:prstGeom>
          <a:effectLst>
            <a:outerShdw dir="2700000" dist="236549" blurRad="76878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365500" y="2540000"/>
            <a:ext cx="176403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USE CASE 및 플로우 설계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254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5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649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5주차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954500" y="3911600"/>
            <a:ext cx="6197600" cy="9423400"/>
          </a:xfrm>
          <a:prstGeom prst="rect">
            <a:avLst/>
          </a:prstGeom>
          <a:effectLst>
            <a:outerShdw dir="2700000" dist="190676" blurRad="6197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8900" y="9144000"/>
            <a:ext cx="24574500" cy="457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82900" y="5372100"/>
            <a:ext cx="11277600" cy="6515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516100" y="5372100"/>
            <a:ext cx="6972300" cy="6515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516100" y="12217400"/>
            <a:ext cx="69723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82900" y="12217400"/>
            <a:ext cx="112903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528800" y="12420600"/>
            <a:ext cx="7073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8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ERD 구성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95600" y="12420600"/>
            <a:ext cx="11391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8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상세 아키텍쳐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65500" y="2540000"/>
            <a:ext cx="176403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시스템 아키텍쳐 및 ERD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254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85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649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6주차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57400" y="4165600"/>
            <a:ext cx="4191000" cy="3835400"/>
          </a:xfrm>
          <a:prstGeom prst="rect">
            <a:avLst/>
          </a:prstGeom>
          <a:effectLst>
            <a:outerShdw dir="2700000" dist="118103" blurRad="38383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85800" y="12192000"/>
            <a:ext cx="91567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57400" y="12192000"/>
            <a:ext cx="204724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365500" y="2540000"/>
            <a:ext cx="176403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화면을 구성하는 </a:t>
            </a: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프론트엔드 UI</a:t>
            </a: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컴포넌트 개발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000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982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776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7주차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07000" y="4165600"/>
            <a:ext cx="9372600" cy="7670800"/>
          </a:xfrm>
          <a:prstGeom prst="rect">
            <a:avLst/>
          </a:prstGeom>
          <a:effectLst>
            <a:outerShdw dir="2700000" dist="236206" blurRad="76767">
              <a:srgbClr val="000000">
                <a:alpha val="15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893300" y="4152900"/>
            <a:ext cx="9093200" cy="767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970000" y="4152900"/>
            <a:ext cx="8204200" cy="7670800"/>
          </a:xfrm>
          <a:prstGeom prst="rect">
            <a:avLst/>
          </a:prstGeom>
          <a:effectLst>
            <a:outerShdw dir="2700000" dist="236206" blurRad="76767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352800" y="2540000"/>
            <a:ext cx="176403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 관리를 위한 </a:t>
            </a: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백엔드 서버</a:t>
            </a: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및 </a:t>
            </a: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DB </a:t>
            </a: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구축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016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093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776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8주차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900" y="4165600"/>
            <a:ext cx="6578600" cy="9232900"/>
          </a:xfrm>
          <a:prstGeom prst="rect">
            <a:avLst/>
          </a:prstGeom>
          <a:effectLst>
            <a:outerShdw dir="2700000" dist="202603" blurRad="65846">
              <a:srgbClr val="000000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5892800"/>
            <a:ext cx="9512300" cy="5765800"/>
          </a:xfrm>
          <a:prstGeom prst="rect">
            <a:avLst/>
          </a:prstGeom>
          <a:effectLst>
            <a:outerShdw dir="2700000" dist="177396" blurRad="57654">
              <a:srgbClr val="000000">
                <a:alpha val="15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348200" y="4165600"/>
            <a:ext cx="5778500" cy="9232900"/>
          </a:xfrm>
          <a:prstGeom prst="rect">
            <a:avLst/>
          </a:prstGeom>
          <a:effectLst>
            <a:outerShdw dir="2700000" dist="177988" blurRad="57846">
              <a:srgbClr val="000000">
                <a:alpha val="15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93000" y="4165600"/>
            <a:ext cx="2070100" cy="3162300"/>
          </a:xfrm>
          <a:prstGeom prst="rect">
            <a:avLst/>
          </a:prstGeom>
          <a:effectLst>
            <a:outerShdw dir="2700000" dist="63743" blurRad="20716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12900" y="2540000"/>
            <a:ext cx="12534900" cy="1371600"/>
          </a:xfrm>
          <a:prstGeom prst="rect">
            <a:avLst/>
          </a:prstGeom>
        </p:spPr>
        <p:txBody>
          <a:bodyPr anchor="t" rtlCol="false" lIns="0" tIns="29464" rIns="0" bIns="0"/>
          <a:lstStyle/>
          <a:p>
            <a:pPr algn="l" lvl="0">
              <a:lnSpc>
                <a:spcPct val="111220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유사도 매칭을 위한 </a:t>
            </a: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알고리즘 </a:t>
            </a: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개발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623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29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81200" y="1828800"/>
            <a:ext cx="1473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9주차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75500" y="5080000"/>
            <a:ext cx="5549900" cy="7937500"/>
          </a:xfrm>
          <a:prstGeom prst="rect">
            <a:avLst/>
          </a:prstGeom>
          <a:effectLst>
            <a:outerShdw dir="2700000" dist="170932" blurRad="55553">
              <a:srgbClr val="000000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211300" y="1003300"/>
            <a:ext cx="4254500" cy="12014200"/>
          </a:xfrm>
          <a:prstGeom prst="rect">
            <a:avLst/>
          </a:prstGeom>
          <a:effectLst>
            <a:outerShdw dir="2700000" dist="130868" blurRad="42532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365500" y="2540000"/>
            <a:ext cx="176403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중간 AI 점검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982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776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중간 점검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33900" y="6515100"/>
            <a:ext cx="2400300" cy="3340100"/>
          </a:xfrm>
          <a:prstGeom prst="rect">
            <a:avLst/>
          </a:prstGeom>
          <a:effectLst>
            <a:outerShdw dir="2700000" dist="73846" blurRad="24000">
              <a:srgbClr val="000000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449800" y="4216400"/>
            <a:ext cx="2806700" cy="7658100"/>
          </a:xfrm>
          <a:prstGeom prst="rect">
            <a:avLst/>
          </a:prstGeom>
          <a:effectLst>
            <a:outerShdw dir="2700000" dist="86498" blurRad="28112">
              <a:srgbClr val="000000">
                <a:alpha val="15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96400" y="4000500"/>
            <a:ext cx="5803900" cy="8089900"/>
          </a:xfrm>
          <a:prstGeom prst="rect">
            <a:avLst/>
          </a:prstGeom>
          <a:effectLst>
            <a:outerShdw dir="2700000" dist="178548" blurRad="58028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85900" y="2540000"/>
            <a:ext cx="8458200" cy="2692400"/>
          </a:xfrm>
          <a:prstGeom prst="rect">
            <a:avLst/>
          </a:prstGeom>
        </p:spPr>
        <p:txBody>
          <a:bodyPr anchor="t" rtlCol="false" lIns="0" tIns="29464" rIns="0" bIns="0"/>
          <a:lstStyle/>
          <a:p>
            <a:pPr algn="l" lvl="0">
              <a:lnSpc>
                <a:spcPct val="111220"/>
              </a:lnSpc>
            </a:pP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프론트/백엔드</a:t>
            </a: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통합 및 대시보드 시각화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00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29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5800" y="1828800"/>
            <a:ext cx="2362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10주차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531600" y="2298700"/>
            <a:ext cx="8229600" cy="4622800"/>
          </a:xfrm>
          <a:prstGeom prst="rect">
            <a:avLst/>
          </a:prstGeom>
          <a:effectLst>
            <a:outerShdw dir="2700000" dist="142352" blurRad="46264">
              <a:srgbClr val="000000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74600" y="3949700"/>
            <a:ext cx="8229600" cy="4622800"/>
          </a:xfrm>
          <a:prstGeom prst="rect">
            <a:avLst/>
          </a:prstGeom>
          <a:effectLst>
            <a:outerShdw dir="2700000" dist="142352" blurRad="46264">
              <a:srgbClr val="000000">
                <a:alpha val="15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881100" y="5727700"/>
            <a:ext cx="8229600" cy="4622800"/>
          </a:xfrm>
          <a:prstGeom prst="rect">
            <a:avLst/>
          </a:prstGeom>
          <a:effectLst>
            <a:outerShdw dir="2700000" dist="142408" blurRad="46283">
              <a:srgbClr val="000000">
                <a:alpha val="15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49500" y="7708900"/>
            <a:ext cx="8229600" cy="4622800"/>
          </a:xfrm>
          <a:prstGeom prst="rect">
            <a:avLst/>
          </a:prstGeom>
          <a:effectLst>
            <a:outerShdw dir="2700000" dist="142408" blurRad="46283">
              <a:srgbClr val="000000">
                <a:alpha val="15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67200" y="5473700"/>
            <a:ext cx="2755900" cy="5664200"/>
          </a:xfrm>
          <a:prstGeom prst="rect">
            <a:avLst/>
          </a:prstGeom>
          <a:effectLst>
            <a:outerShdw dir="2700000" dist="84946" blurRad="27607">
              <a:srgbClr val="000000">
                <a:alpha val="15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791200" y="6007100"/>
            <a:ext cx="2755900" cy="5664200"/>
          </a:xfrm>
          <a:prstGeom prst="rect">
            <a:avLst/>
          </a:prstGeom>
          <a:effectLst>
            <a:outerShdw dir="2700000" dist="84946" blurRad="27607">
              <a:srgbClr val="000000">
                <a:alpha val="15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353300" y="6667500"/>
            <a:ext cx="2755900" cy="5664200"/>
          </a:xfrm>
          <a:prstGeom prst="rect">
            <a:avLst/>
          </a:prstGeom>
          <a:effectLst>
            <a:outerShdw dir="2700000" dist="84946" blurRad="27607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365500" y="2540000"/>
            <a:ext cx="176403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시스템 안정화 및 배포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254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85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649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11&amp;12주차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0900" y="4165600"/>
            <a:ext cx="11214100" cy="8597900"/>
          </a:xfrm>
          <a:prstGeom prst="rect">
            <a:avLst/>
          </a:prstGeom>
          <a:effectLst>
            <a:outerShdw dir="2700000" dist="264415" blurRad="85935">
              <a:srgbClr val="000000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0" y="4165600"/>
            <a:ext cx="11442700" cy="5473700"/>
          </a:xfrm>
          <a:prstGeom prst="rect">
            <a:avLst/>
          </a:prstGeom>
          <a:effectLst>
            <a:outerShdw dir="2700000" dist="168385" blurRad="54725">
              <a:srgbClr val="000000">
                <a:alpha val="15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0" y="9880600"/>
            <a:ext cx="9512300" cy="3200400"/>
          </a:xfrm>
          <a:prstGeom prst="rect">
            <a:avLst/>
          </a:prstGeom>
          <a:effectLst>
            <a:outerShdw dir="2700000" dist="98334" blurRad="31959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8900" y="9144000"/>
            <a:ext cx="24574500" cy="457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89900" y="11861800"/>
            <a:ext cx="66675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11861800"/>
            <a:ext cx="66675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102600" y="12065000"/>
            <a:ext cx="6769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8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JSON-LD 구조화 데이터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500" y="12065000"/>
            <a:ext cx="6769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8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HTML 메타태그 강화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65500" y="2540000"/>
            <a:ext cx="176403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SEO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254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5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649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13주차 - 1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9500" y="8293100"/>
            <a:ext cx="3060700" cy="1447800"/>
          </a:xfrm>
          <a:prstGeom prst="rect">
            <a:avLst/>
          </a:prstGeom>
          <a:effectLst>
            <a:outerShdw dir="2700000" dist="44650" blurRad="14511">
              <a:srgbClr val="000000">
                <a:alpha val="15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007600"/>
            <a:ext cx="6667500" cy="1676400"/>
          </a:xfrm>
          <a:prstGeom prst="rect">
            <a:avLst/>
          </a:prstGeom>
          <a:effectLst>
            <a:outerShdw dir="2700000" dist="51396" blurRad="16704">
              <a:srgbClr val="000000">
                <a:alpha val="15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" y="5156200"/>
            <a:ext cx="6667500" cy="2882900"/>
          </a:xfrm>
          <a:prstGeom prst="rect">
            <a:avLst/>
          </a:prstGeom>
          <a:effectLst>
            <a:outerShdw dir="2700000" dist="88523" blurRad="28770">
              <a:srgbClr val="000000">
                <a:alpha val="15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089900" y="5778500"/>
            <a:ext cx="6667500" cy="5448300"/>
          </a:xfrm>
          <a:prstGeom prst="rect">
            <a:avLst/>
          </a:prstGeom>
          <a:effectLst>
            <a:outerShdw dir="2700000" dist="167634" blurRad="54481">
              <a:srgbClr val="000000">
                <a:alpha val="15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27300" y="5245100"/>
            <a:ext cx="8331200" cy="7073900"/>
          </a:xfrm>
          <a:prstGeom prst="rect">
            <a:avLst/>
          </a:prstGeom>
          <a:effectLst>
            <a:outerShdw dir="2700000" dist="217689" blurRad="70749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25600" y="2540000"/>
            <a:ext cx="8204200" cy="1371600"/>
          </a:xfrm>
          <a:prstGeom prst="rect">
            <a:avLst/>
          </a:prstGeom>
        </p:spPr>
        <p:txBody>
          <a:bodyPr anchor="t" rtlCol="false" lIns="0" tIns="29464" rIns="0" bIns="0"/>
          <a:lstStyle/>
          <a:p>
            <a:pPr algn="l" lvl="0">
              <a:lnSpc>
                <a:spcPct val="111220"/>
              </a:lnSpc>
            </a:pPr>
            <a:r>
              <a:rPr lang="en-US" sz="7733" b="tru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웹 접근성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00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29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5800" y="1828800"/>
            <a:ext cx="2362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13주차 - 2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78000" y="5816600"/>
            <a:ext cx="3784600" cy="406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11100" y="2298700"/>
            <a:ext cx="7162800" cy="7924800"/>
          </a:xfrm>
          <a:prstGeom prst="rect">
            <a:avLst/>
          </a:prstGeom>
          <a:effectLst>
            <a:outerShdw dir="2700000" dist="220588" blurRad="71691">
              <a:srgbClr val="000000">
                <a:alpha val="15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192500" y="4470400"/>
            <a:ext cx="7150100" cy="8051800"/>
          </a:xfrm>
          <a:prstGeom prst="rect">
            <a:avLst/>
          </a:prstGeom>
          <a:effectLst>
            <a:outerShdw dir="2700000" dist="219875" blurRad="71459">
              <a:srgbClr val="000000">
                <a:alpha val="15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969000" y="5816600"/>
            <a:ext cx="6108700" cy="3759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30400" y="9436100"/>
            <a:ext cx="4851400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8900" y="9144000"/>
            <a:ext cx="24574500" cy="457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875000" y="11861800"/>
            <a:ext cx="66675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64600" y="11861800"/>
            <a:ext cx="66675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1500" y="11861800"/>
            <a:ext cx="66675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887700" y="12065000"/>
            <a:ext cx="6769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8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README파일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4200" y="12065000"/>
            <a:ext cx="6769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8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레포지토리 내부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65500" y="2540000"/>
            <a:ext cx="17640300" cy="1371600"/>
          </a:xfrm>
          <a:prstGeom prst="rect">
            <a:avLst/>
          </a:prstGeom>
        </p:spPr>
        <p:txBody>
          <a:bodyPr anchor="t" rtlCol="false" lIns="0" tIns="39285" rIns="0" bIns="0"/>
          <a:lstStyle/>
          <a:p>
            <a:pPr algn="ctr" lvl="0">
              <a:lnSpc>
                <a:spcPct val="109559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깃허브 관리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254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855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64900" y="1828800"/>
            <a:ext cx="1841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기타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1500" y="6908800"/>
            <a:ext cx="6667500" cy="4521200"/>
          </a:xfrm>
          <a:prstGeom prst="rect">
            <a:avLst/>
          </a:prstGeom>
          <a:effectLst>
            <a:outerShdw dir="2700000" dist="139030" blurRad="45185">
              <a:srgbClr val="000000">
                <a:alpha val="15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64600" y="4787900"/>
            <a:ext cx="6667500" cy="6642100"/>
          </a:xfrm>
          <a:prstGeom prst="rect">
            <a:avLst/>
          </a:prstGeom>
          <a:effectLst>
            <a:outerShdw dir="2700000" dist="204355" blurRad="66415">
              <a:srgbClr val="000000">
                <a:alpha val="15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8864600" y="12065000"/>
            <a:ext cx="6769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800" b="false" i="false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커밋 히스토리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87700" y="4787900"/>
            <a:ext cx="6565900" cy="6642100"/>
          </a:xfrm>
          <a:prstGeom prst="rect">
            <a:avLst/>
          </a:prstGeom>
          <a:effectLst>
            <a:outerShdw dir="2700000" dist="201946" blurRad="65632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79400" y="0"/>
            <a:ext cx="24942800" cy="34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12900" y="2540000"/>
            <a:ext cx="9169400" cy="1371600"/>
          </a:xfrm>
          <a:prstGeom prst="rect">
            <a:avLst/>
          </a:prstGeom>
        </p:spPr>
        <p:txBody>
          <a:bodyPr anchor="t" rtlCol="false" lIns="0" tIns="29464" rIns="0" bIns="0"/>
          <a:lstStyle/>
          <a:p>
            <a:pPr algn="l" lvl="0">
              <a:lnSpc>
                <a:spcPct val="111220"/>
              </a:lnSpc>
            </a:pPr>
            <a:r>
              <a:rPr lang="en-US" sz="7733" b="false" i="false" u="none" strike="noStrike" spc="-4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시스템 기반 환경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623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2900" y="1828800"/>
            <a:ext cx="685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81200" y="1828800"/>
            <a:ext cx="1473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 spc="-100">
                <a:solidFill>
                  <a:srgbClr val="737373"/>
                </a:solidFill>
                <a:latin typeface="LINE Seed Sans KR Bold"/>
                <a:ea typeface="LINE Seed Sans KR Bold"/>
                <a:cs typeface="LINE Seed Sans KR Bold"/>
              </a:rPr>
              <a:t>레퍼런스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10200" y="4940300"/>
            <a:ext cx="4635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기획 및 정의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10200" y="6489700"/>
            <a:ext cx="4635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 시각화 모델링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893300" y="4724400"/>
            <a:ext cx="5486400" cy="1181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9817100" y="6489700"/>
            <a:ext cx="56388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PlantUML Web Server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10200" y="8026400"/>
            <a:ext cx="4635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 로직 개발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93300" y="8026400"/>
            <a:ext cx="5486400" cy="711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410200" y="9575800"/>
            <a:ext cx="4635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 배포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93300" y="9398000"/>
            <a:ext cx="5486400" cy="109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