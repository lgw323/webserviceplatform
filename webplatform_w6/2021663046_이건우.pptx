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416447-73D3-4186-B23E-6C86C79C4D5F}">
  <a:tblStyle styleId="{32416447-73D3-4186-B23E-6C86C79C4D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2e8059bb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e2e8059b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e2e8059b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e2e8059b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1" Type="http://schemas.openxmlformats.org/officeDocument/2006/relationships/image" Target="../media/image13.png"/><Relationship Id="rId10" Type="http://schemas.openxmlformats.org/officeDocument/2006/relationships/image" Target="../media/image17.png"/><Relationship Id="rId12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1" Type="http://schemas.openxmlformats.org/officeDocument/2006/relationships/image" Target="../media/image21.png"/><Relationship Id="rId10" Type="http://schemas.openxmlformats.org/officeDocument/2006/relationships/image" Target="../media/image25.png"/><Relationship Id="rId12" Type="http://schemas.openxmlformats.org/officeDocument/2006/relationships/image" Target="../media/image22.png"/><Relationship Id="rId9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5" y="2147649"/>
            <a:ext cx="115815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Software Design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Specification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4015680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통합 게임 데이터 및 하드웨어 최적화 플랫폼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90550" y="4524825"/>
            <a:ext cx="3810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2021663046 이건우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16976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360658" y="2493615"/>
            <a:ext cx="5470683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Chapter 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System Overview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886200" y="4379565"/>
            <a:ext cx="4419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시스템 개요, 아키텍처, 모듈 및 개념적 설계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548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866775" y="2072133"/>
            <a:ext cx="49911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다면 웹 서비스 플랫폼: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분산된 게임 데이터를 통합하고 사용자 하드웨어 제원을 분석하여 최적화된 그래픽 설정값을 제공합니다.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66775" y="2829181"/>
            <a:ext cx="49911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외부 계정 연동: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OAuth 2.0 프로토콜을 활용한 외부 플랫폼(Steam, Riot) API 연동 및 라이브러리 데이터를 동기화합니다.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3900487"/>
            <a:ext cx="49911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통합 게임 대시보드: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Recharts를 활용하여 플레이 타임 누적 추이 및 업적 달성 데이터를 시각화합니다.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4669928"/>
            <a:ext cx="49911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유사도 기반 매칭: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CPU(30%), GPU(50%), RAM(10%), 해상도(10%) 가중치 모델을 통해 90% 이상 일치하는 세팅을 추천합니다.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5012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1.1. 시스템 개요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091183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848231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19537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688978"/>
            <a:ext cx="95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47862"/>
            <a:ext cx="34861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47862"/>
            <a:ext cx="34861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47862"/>
            <a:ext cx="348615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2907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76300" y="3252787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USER MODULE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3852862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 Tier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4443398"/>
            <a:ext cx="289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React.js 및 Tailwind CSS로 구성. SPA 형태로 사용자 상호작용 및 데이터 시각화를 전담합니다. 다수의 하드웨어 프로필(CRUD) 관리를 포함합니다.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2907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4648200" y="3252787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POST MODULE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8200" y="3852862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Tier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48200" y="4443398"/>
            <a:ext cx="289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Node.js/Express 환경의 Stateless 서버. 비즈니스 로직, 외부 API 통신 및 Hardware Matching Engine(유사도 연산)을 통해 최적 프로파일을 매칭합니다.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2907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420100" y="3252787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AUTH MODULE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20100" y="3852862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Tier &amp; Security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0100" y="4443394"/>
            <a:ext cx="28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PostgreSQL과 Redis 캐시를 활용. OAuth 2.0 연동 및 AES-256 토큰 암호화, JWT 기반 클라이언트 세션 발급을 처리합니다.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4431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0600" y="244316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86787" y="244316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1.2 &amp; 1.3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아키텍처 및 모듈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4807"/>
            <a:ext cx="5276850" cy="4691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4807"/>
            <a:ext cx="5276850" cy="469121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71550" y="1945332"/>
            <a:ext cx="47205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개념적 데이터 설계 (Data Design)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24650" y="1945332"/>
            <a:ext cx="47205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인터페이스 설계 (API Design)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257300" y="2488257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3NF 준수: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전체 데이터 모델은 제3정규화를 준수하여 데이터 무결성을 보장합니다.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257300" y="3257698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핵심 도메인: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users, hardware_profiles, games, optimization_profiles 4개 영역으로 분리.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257300" y="4027140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식별 및 관계: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고유 식별자(UUID)를 통한 테이블 결합.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257300" y="4485283"/>
            <a:ext cx="42102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유연한 스키마: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복잡한 인게임 옵션 트리는 settings_json 형태의 Document 스키마로 저장하여 유연성을 확보합니다.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010400" y="2488257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RESTful 아키텍처: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명사/복수형 자원 표기 및 HTTP Method(GET, POST, PUT, DELETE)를 분리.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010400" y="3257698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 통신: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application/json Payload 및 표준 응답 래퍼(status, message, data) 사용.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010400" y="4027140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보안 인증: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Public Endpoint 외 모든 API는 Authorization: Bearer  헤더 검증 필수.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010400" y="4796581"/>
            <a:ext cx="42100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표준 상태 코드: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400(검증 실패), 401(인증 실패), 403, 404, 500 등 명확한 에러 코드를 반환합니다.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81025" y="581025"/>
            <a:ext cx="1158144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1.4 &amp; 1.5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데이터 및 API 설계 원칙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507307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3276748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404619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4504333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507307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276748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04619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815631"/>
            <a:ext cx="95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/>
          <p:nvPr/>
        </p:nvSpPr>
        <p:spPr>
          <a:xfrm>
            <a:off x="5715000" y="216976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2770584" y="2493615"/>
            <a:ext cx="665083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Chapter 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Architecture Diagram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3986212" y="4379565"/>
            <a:ext cx="42195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인프라스트럭처 배포 및 시스템 계층 상세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581025"/>
            <a:ext cx="554069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2. 상세 아키텍처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구성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66775" y="1524000"/>
            <a:ext cx="4588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Client (웹 브라우저):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React.js 기반 SPA로 Tailwind CSS 반응형 UI 및 Recharts 시각화를 제공.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66775" y="2293450"/>
            <a:ext cx="45888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Server (Node.js/Express):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Hardware Matching Engine 및 OAuth 2.0 Module 구동. Stateless 구조로 확장성 확보.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66775" y="3355307"/>
            <a:ext cx="4588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Database &amp; Cache: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PostgreSQL(관계형 영구 데이터), Redis(API Rate Limit 제어 및 단기 캐싱).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4124757"/>
            <a:ext cx="4588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외부 API 연동: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Steam Web API 및 Riot Games API를 통한 메타데이터 동기화.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66775" y="4894207"/>
            <a:ext cx="45888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보안 및 배포 환경: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TLS 1.3 암호화, AWS 클라우드 기반 Kubernetes (K8s) 오케스트레이션 및 Docker 컨테이너 배포.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4305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2491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74364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43806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913247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title="architectu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5575" y="1508750"/>
            <a:ext cx="6659901" cy="38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5715000" y="216976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810464" y="2493615"/>
            <a:ext cx="8571071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Chapter 3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Entity Relationship Diagram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524375" y="4379565"/>
            <a:ext cx="3143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Detailed Physical Data Model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27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Detailed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Physical Data Model</a:t>
            </a:r>
            <a:endParaRPr/>
          </a:p>
        </p:txBody>
      </p:sp>
      <p:pic>
        <p:nvPicPr>
          <p:cNvPr id="201" name="Google Shape;201;p21" title="e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049" y="1088925"/>
            <a:ext cx="5553900" cy="5190600"/>
          </a:xfrm>
          <a:prstGeom prst="roundRect">
            <a:avLst>
              <a:gd fmla="val 123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95425"/>
            <a:ext cx="11029950" cy="4762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22"/>
          <p:cNvGraphicFramePr/>
          <p:nvPr/>
        </p:nvGraphicFramePr>
        <p:xfrm>
          <a:off x="590550" y="1504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{32416447-73D3-4186-B23E-6C86C79C4D5F}</a:tableStyleId>
              </a:tblPr>
              <a:tblGrid>
                <a:gridCol w="2269925"/>
                <a:gridCol w="1949200"/>
                <a:gridCol w="1739500"/>
                <a:gridCol w="1844275"/>
                <a:gridCol w="3208000"/>
              </a:tblGrid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테이블명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컬럼명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Data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속성 (PK/FK/NN)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설명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UUID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PK, 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사용자 고유 식별자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VARCHAR(50)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외부 인증 제공자 (steam, riot 등)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provider_id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VARCHAR(255)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외부 플랫폼의 사용자 식별자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created_at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TIMESTAMP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시스템 계정 생성 일시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hardware_profiles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UUID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PK, 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하드웨어 프로필 고유 식별자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UUID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FK, 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소유자 식별자 (users.id)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cpu_model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VARCHAR(250)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CPU 명칭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gpu_model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VARCHAR(250)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GPU 명칭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ram_gb / res / hz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 / VARCHAR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RAM, 해상도, 주사율 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22"/>
          <p:cNvSpPr/>
          <p:nvPr/>
        </p:nvSpPr>
        <p:spPr>
          <a:xfrm>
            <a:off x="590550" y="1909762"/>
            <a:ext cx="2269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2860476" y="1909762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809678" y="1909762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549181" y="1909762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8393459" y="1909762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90550" y="3781425"/>
            <a:ext cx="2269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2860476" y="2376487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809678" y="2376487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549181" y="2376487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8393459" y="2376487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2860476" y="2843212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809678" y="2843212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6549181" y="2843212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8393459" y="2843212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2860476" y="3309937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4809678" y="3309937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549181" y="3309937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8393459" y="3309937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860476" y="3781425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4809678" y="3781425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6549181" y="3781425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8393459" y="3781425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90550" y="6124575"/>
            <a:ext cx="2269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90550" y="3790950"/>
            <a:ext cx="226992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2860476" y="4252912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860476" y="3790950"/>
            <a:ext cx="19492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809678" y="4252912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809678" y="3790950"/>
            <a:ext cx="173950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6549181" y="4252912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6549181" y="3790950"/>
            <a:ext cx="184427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8393459" y="4252912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8393459" y="3790950"/>
            <a:ext cx="320799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2860476" y="4719637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809678" y="4719637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549181" y="4719637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8393459" y="4719637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860476" y="5186362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809678" y="5186362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6549181" y="5186362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393459" y="5186362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860476" y="5653087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4809678" y="5653087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6549181" y="5653087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8393459" y="5653087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2860476" y="6124575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809678" y="6124575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6549181" y="6124575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8393459" y="6124575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90550" y="8458200"/>
            <a:ext cx="2269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90550" y="6134100"/>
            <a:ext cx="226992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2860476" y="6596062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2860476" y="6134100"/>
            <a:ext cx="19492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809678" y="6596062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809678" y="6134100"/>
            <a:ext cx="173950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549181" y="6596062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549181" y="6134100"/>
            <a:ext cx="1844278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8393459" y="6596062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8393459" y="6134100"/>
            <a:ext cx="320799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2860476" y="7062787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809678" y="7062787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549181" y="7062787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8393459" y="7062787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2860476" y="7529512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4809678" y="7529512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549181" y="7529512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8393459" y="7529512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860476" y="7996237"/>
            <a:ext cx="19492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4809678" y="7996237"/>
            <a:ext cx="17395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6549181" y="7996237"/>
            <a:ext cx="184427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8393459" y="7996237"/>
            <a:ext cx="32079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Detailed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Physical Data Model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27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5" name="Google Shape;285;p23"/>
          <p:cNvGraphicFramePr/>
          <p:nvPr/>
        </p:nvGraphicFramePr>
        <p:xfrm>
          <a:off x="590550" y="1504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{32416447-73D3-4186-B23E-6C86C79C4D5F}</a:tableStyleId>
              </a:tblPr>
              <a:tblGrid>
                <a:gridCol w="2269925"/>
                <a:gridCol w="1949200"/>
                <a:gridCol w="1739500"/>
                <a:gridCol w="1844275"/>
                <a:gridCol w="3208000"/>
              </a:tblGrid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테이블명</a:t>
                      </a:r>
                      <a:endParaRPr b="1" i="0" sz="1125" u="none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컬럼명</a:t>
                      </a:r>
                      <a:endParaRPr b="0" i="0" sz="1125" u="none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Data Type</a:t>
                      </a:r>
                      <a:endParaRPr b="0" i="0" sz="1125" u="none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속성 (PK/FK/NN)</a:t>
                      </a:r>
                      <a:endParaRPr b="0" i="0" sz="1125" u="none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설명</a:t>
                      </a:r>
                      <a:endParaRPr b="0" i="0" sz="1125" u="none">
                        <a:solidFill>
                          <a:srgbClr val="94A3B8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optimization_profiles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UUID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PK, 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최적화 프로파일 식별자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game_id / user_id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UUID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FK, 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대상 게임 및 작성자 식별자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hardware_id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UUID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FK, 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벤치마크 테스트 하드웨어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settings_json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JSONB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인게임 세부 그래픽 설정 객체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avg_fps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측정된 평균 프레임 수치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23"/>
          <p:cNvSpPr txBox="1"/>
          <p:nvPr/>
        </p:nvSpPr>
        <p:spPr>
          <a:xfrm>
            <a:off x="581025" y="581025"/>
            <a:ext cx="1158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3. Detailed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Physical Data Model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2860476" y="2376487"/>
            <a:ext cx="194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4809678" y="2376487"/>
            <a:ext cx="1739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6549181" y="2376487"/>
            <a:ext cx="1844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8393459" y="2376487"/>
            <a:ext cx="3207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2860476" y="2843212"/>
            <a:ext cx="194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4809678" y="2843212"/>
            <a:ext cx="1739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6549181" y="2843212"/>
            <a:ext cx="1844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8393459" y="2843212"/>
            <a:ext cx="3207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2860476" y="3309937"/>
            <a:ext cx="1949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4809678" y="3309937"/>
            <a:ext cx="1739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6549181" y="3309937"/>
            <a:ext cx="1844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8393459" y="3309937"/>
            <a:ext cx="3207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/>
          <p:nvPr/>
        </p:nvSpPr>
        <p:spPr>
          <a:xfrm>
            <a:off x="5715000" y="216976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3420665" y="2493615"/>
            <a:ext cx="5350668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Chapter 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API Specification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4438650" y="4379565"/>
            <a:ext cx="3314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Detailed Implementation Guide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6912"/>
            <a:ext cx="34861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66912"/>
            <a:ext cx="34861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66912"/>
            <a:ext cx="34861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876300" y="3271837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외부 플랫폼 인증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876300" y="3833812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GET /auth/{provider}/callback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876300" y="4367197"/>
            <a:ext cx="289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OAuth 2.0 프로바이더로부터 Authorization Code를 받아 토큰 교환 및 세션(JWT)을 생성합니다. 인증이 필요 없는 Public 엔드포인트입니다.</a:t>
            </a:r>
            <a:endParaRPr/>
          </a:p>
        </p:txBody>
      </p:sp>
      <p:pic>
        <p:nvPicPr>
          <p:cNvPr descr="image.png" id="319" name="Google Shape;31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5"/>
          <p:cNvSpPr txBox="1"/>
          <p:nvPr/>
        </p:nvSpPr>
        <p:spPr>
          <a:xfrm>
            <a:off x="4648200" y="3271837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하드웨어 프로필 등록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4648200" y="3833812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POST /users/hardware-profiles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4648200" y="4367198"/>
            <a:ext cx="289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사용자의 PC 제원(CPU, GPU, RAM, 해상도 등) Payload를 입력받아 프로필을 생성합니다. Authorization: Bearer 토큰이 필수입니다.</a:t>
            </a:r>
            <a:endParaRPr/>
          </a:p>
        </p:txBody>
      </p:sp>
      <p:pic>
        <p:nvPicPr>
          <p:cNvPr descr="image.png" id="323" name="Google Shape;32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309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8420100" y="3271837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최적화 세팅 추천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8420100" y="3833812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GET /profiles/recommendations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8420100" y="4367198"/>
            <a:ext cx="289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클라이언트 하드웨어와 DB를 교차 분석하여 90% 이상 유사한 환경의 최적화 그래픽 설정값 및 예상 FPS를 반환합니다.</a:t>
            </a:r>
            <a:endParaRPr/>
          </a:p>
        </p:txBody>
      </p:sp>
      <p:pic>
        <p:nvPicPr>
          <p:cNvPr descr="image.png" id="327" name="Google Shape;327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4622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0600" y="24622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2500" y="24622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4. API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Specification Details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6"/>
          <p:cNvSpPr txBox="1"/>
          <p:nvPr/>
        </p:nvSpPr>
        <p:spPr>
          <a:xfrm>
            <a:off x="305276" y="2365027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581025" y="3517552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발표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대한 질문을 받습니다.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581025" y="4264223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Inter Medium"/>
                <a:ea typeface="Inter Medium"/>
                <a:cs typeface="Inter Medium"/>
                <a:sym typeface="Inter Medium"/>
              </a:rPr>
              <a:t>Thank you for your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